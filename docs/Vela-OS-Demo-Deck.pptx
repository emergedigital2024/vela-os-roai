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5895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3F3F6"/>
                </a:solidFill>
                <a:latin typeface="Arial"/>
              </a:rP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786384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3F3F6"/>
                </a:solidFill>
                <a:latin typeface="Arial"/>
              </a:rPr>
              <a:t>Vela </a:t>
            </a:r>
            <a:r>
              <a:rPr sz="2200" b="1">
                <a:solidFill>
                  <a:srgbClr val="A5B4FC"/>
                </a:solidFill>
                <a:latin typeface="Arial"/>
              </a:rPr>
              <a:t>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20700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9CAA"/>
                </a:solidFill>
                <a:latin typeface="Arial"/>
              </a:rPr>
              <a:t>FPT CX Services  -  ROAI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>
                <a:solidFill>
                  <a:srgbClr val="F3F3F6"/>
                </a:solidFill>
                <a:latin typeface="Arial"/>
              </a:rPr>
              <a:t>The operating system for</a:t>
            </a:r>
          </a:p>
          <a:p>
            <a:pPr algn="l">
              <a:lnSpc>
                <a:spcPct val="102000"/>
              </a:lnSpc>
            </a:pPr>
            <a:r>
              <a:rPr sz="4600" b="1">
                <a:solidFill>
                  <a:srgbClr val="F3F3F6"/>
                </a:solidFill>
                <a:latin typeface="Arial"/>
              </a:rPr>
              <a:t>AI-first customer experience.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9C9CAA"/>
                </a:solidFill>
                <a:latin typeface="Arial"/>
              </a:rPr>
              <a:t>Vela OS turns FPT's full CX offering into one measurable surface - a dual-mode agency command center and customer portal, where every AI engagement is priced, delivered, and proven in ROAI.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15000"/>
            <a:ext cx="5852160" cy="566928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5815584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F3F6"/>
                </a:solidFill>
                <a:latin typeface="Arial"/>
              </a:rPr>
              <a:t>ROAI = (Value delivered - AI cost) / AI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76072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Arial"/>
              </a:rPr>
              <a:t>Live, interactive demo</a:t>
            </a:r>
          </a:p>
          <a:p>
            <a:pPr algn="r">
              <a:lnSpc>
                <a:spcPct val="100000"/>
              </a:lnSpc>
            </a:pPr>
            <a:r>
              <a:rPr sz="1100" b="0">
                <a:solidFill>
                  <a:srgbClr val="9C9CAA"/>
                </a:solidFill>
                <a:latin typeface="Arial"/>
              </a:rPr>
              <a:t>agency + customer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3F3F6"/>
                </a:solidFill>
                <a:latin typeface="Arial"/>
              </a:rPr>
              <a:t>CX leaders win on growth, not just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Buyers expect AI-grade, cross-channel experiences. The gap is proof - most AI spend can't show what it returned. Vela OS closes that gap.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3383280" cy="18288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A5B4FC"/>
                </a:solidFill>
                <a:latin typeface="Arial"/>
              </a:rPr>
              <a:t>2-3x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118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higher revenue growth for CX leaders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468880"/>
            <a:ext cx="3383280" cy="18288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74320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A5B4FC"/>
                </a:solidFill>
                <a:latin typeface="Arial"/>
              </a:rPr>
              <a:t>~70%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6118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rate experience as important as product or 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468880"/>
            <a:ext cx="3383280" cy="18288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74320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A5B4FC"/>
                </a:solidFill>
                <a:latin typeface="Arial"/>
              </a:rPr>
              <a:t>~60%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6118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of interactions span multiple 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C9CAA"/>
                </a:solidFill>
                <a:latin typeface="Arial"/>
              </a:rPr>
              <a:t>Vela OS  </a:t>
            </a:r>
            <a:r>
              <a:rPr sz="900" b="0">
                <a:solidFill>
                  <a:srgbClr val="6B6B77"/>
                </a:solidFill>
                <a:latin typeface="Arial"/>
              </a:rPr>
              <a:t>Emerge Digital x FPT CX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6B77"/>
                </a:solidFill>
                <a:latin typeface="Arial"/>
              </a:rPr>
              <a:t>vela-os-roai.emerge-digital.workers.dev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3F3F6"/>
                </a:solidFill>
                <a:latin typeface="Arial"/>
              </a:rPr>
              <a:t>One platform, two modes.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212080" cy="402336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B4FC"/>
                </a:solidFill>
                <a:latin typeface="Arial"/>
              </a:rPr>
              <a:t>AGENCY COMMAND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14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3F3F6"/>
                </a:solidFill>
                <a:latin typeface="Arial"/>
              </a:rPr>
              <a:t>Run the whole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45720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-  Portfolio ROAI, revenue and margin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-  Client directory with health tiers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-  ROAI analytics per $ of AI invested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-  Billing + live Metronome usage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12080" cy="402336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1488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4D399"/>
                </a:solidFill>
                <a:latin typeface="Arial"/>
              </a:rPr>
              <a:t>CUSTOMER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514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3F3F6"/>
                </a:solidFill>
                <a:latin typeface="Arial"/>
              </a:rPr>
              <a:t>Show the customer their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200400"/>
            <a:ext cx="45720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-  A personal ROAI Center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-  Active projects across six pillars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-  AI marketplace to launch agents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-  Self-serve billing, usage &amp; top-ups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C9CAA"/>
                </a:solidFill>
                <a:latin typeface="Arial"/>
              </a:rPr>
              <a:t>Vela OS  </a:t>
            </a:r>
            <a:r>
              <a:rPr sz="900" b="0">
                <a:solidFill>
                  <a:srgbClr val="6B6B77"/>
                </a:solidFill>
                <a:latin typeface="Arial"/>
              </a:rPr>
              <a:t>Emerge Digital x FPT CX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6B77"/>
                </a:solidFill>
                <a:latin typeface="Arial"/>
              </a:rPr>
              <a:t>vela-os-roai.emerge-digital.workers.dev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THE OFFERING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3F3F6"/>
                </a:solidFill>
                <a:latin typeface="Arial"/>
              </a:rPr>
              <a:t>Six CX pillars, powered by the ON.Ecosystem.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383280" cy="11430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965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Experience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3500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Maturity assessment, marketecture, journey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783080"/>
            <a:ext cx="3383280" cy="11430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82312" y="1965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Experience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23500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Research, adaptive UI, design systems, usability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783080"/>
            <a:ext cx="3383280" cy="11430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1965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Experience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3500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DXP build/re-platform, MarTech, DX 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00400"/>
            <a:ext cx="3383280" cy="11430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3832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Commerce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76732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Composable commerce, B2B/B2C, accelerators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200400"/>
            <a:ext cx="3383280" cy="11430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33832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Experience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76732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CDP &amp; Customer 360, analytics portals, AI agents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200400"/>
            <a:ext cx="3383280" cy="11430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33832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Run &amp; Optimize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376732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L1-L3 maintenance, 24x7 monitoring, ops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61772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B4FC"/>
                </a:solidFill>
                <a:latin typeface="Arial"/>
              </a:rPr>
              <a:t>AGENTIC 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ON.Optima - Answer Engine Optimization        </a:t>
            </a:r>
            <a:r>
              <a:rPr sz="1300" b="0">
                <a:solidFill>
                  <a:srgbClr val="9C9CAA"/>
                </a:solidFill>
                <a:latin typeface="Arial"/>
              </a:rPr>
              <a:t>ON.X - Agentic Assistant
</a:t>
            </a:r>
            <a:r>
              <a:rPr sz="1300" b="0">
                <a:solidFill>
                  <a:srgbClr val="9C9CAA"/>
                </a:solidFill>
                <a:latin typeface="Arial"/>
              </a:rPr>
              <a:t>ON.E - Commerce Accelerator        </a:t>
            </a:r>
            <a:r>
              <a:rPr sz="1300" b="0">
                <a:solidFill>
                  <a:srgbClr val="9C9CAA"/>
                </a:solidFill>
                <a:latin typeface="Arial"/>
              </a:rPr>
              <a:t>ON.Match - AI Recommendations
</a:t>
            </a:r>
            <a:r>
              <a:rPr sz="1300" b="0">
                <a:solidFill>
                  <a:srgbClr val="9C9CAA"/>
                </a:solidFill>
                <a:latin typeface="Arial"/>
              </a:rPr>
              <a:t>ON.Browser - Agentic Browser     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C9CAA"/>
                </a:solidFill>
                <a:latin typeface="Arial"/>
              </a:rPr>
              <a:t>Vela OS  </a:t>
            </a:r>
            <a:r>
              <a:rPr sz="900" b="0">
                <a:solidFill>
                  <a:srgbClr val="6B6B77"/>
                </a:solidFill>
                <a:latin typeface="Arial"/>
              </a:rPr>
              <a:t>Emerge Digital x FPT CX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6B77"/>
                </a:solidFill>
                <a:latin typeface="Arial"/>
              </a:rPr>
              <a:t>vela-os-roai.emerge-digital.workers.dev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THE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3F3F6"/>
                </a:solidFill>
                <a:latin typeface="Arial"/>
              </a:rPr>
              <a:t>Every engagement, measured in ROAI.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937760" cy="347472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6B77"/>
                </a:solidFill>
                <a:latin typeface="Arial"/>
              </a:rPr>
              <a:t>EXAMPLE CLIENT - BLENDED ROAI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4297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34D399"/>
                </a:solidFill>
                <a:latin typeface="Arial"/>
              </a:rPr>
              <a:t>5.4x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$1 invested  -&gt;  $5.40 of measured value returned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01168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3F3F6"/>
                </a:solidFill>
                <a:latin typeface="Arial"/>
              </a:rPr>
              <a:t>ROAI = (Value delivered - AI cost) / AI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74320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Value = hours saved + revenue uplift, measured per engagement.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566160"/>
            <a:ext cx="5212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FPT and the client always see the same source of truth - so renewals and expansion become a data conversation, not a debate.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C9CAA"/>
                </a:solidFill>
                <a:latin typeface="Arial"/>
              </a:rPr>
              <a:t>Vela OS  </a:t>
            </a:r>
            <a:r>
              <a:rPr sz="900" b="0">
                <a:solidFill>
                  <a:srgbClr val="6B6B77"/>
                </a:solidFill>
                <a:latin typeface="Arial"/>
              </a:rPr>
              <a:t>Emerge Digital x FPT CX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6B77"/>
                </a:solidFill>
                <a:latin typeface="Arial"/>
              </a:rPr>
              <a:t>vela-os-roai.emerge-digital.workers.dev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NOT A MOCKUP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3F3F6"/>
                </a:solidFill>
                <a:latin typeface="Arial"/>
              </a:rPr>
              <a:t>Live usage-based billing, wired to Metronome.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C9CAA"/>
                </a:solidFill>
                <a:latin typeface="Arial"/>
              </a:rPr>
              <a:t>The Billing -&gt; Live panel reads a real Metronome account through a secure, read-only proxy - the API key never reaches the browser.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5212080" cy="32004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B4FC"/>
                </a:solidFill>
                <a:latin typeface="Arial"/>
              </a:rPr>
              <a:t>WHAT'S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15468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-  7 customers: prepaid-commit + hybrid models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-  Finalized + draft invoices, 6 months history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-  Commit/credit balances drawing down on usage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-  Full catalog: metrics, products, rate cards, packages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5212080" cy="32004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743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4D399"/>
                </a:solidFill>
                <a:latin typeface="Arial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15468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-  Usage-based pricing + committed-spend drawdown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-  Government Net-60 / PO and self-serve top-ups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-  Runs on production billing infrastructure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C9CAA"/>
                </a:solidFill>
                <a:latin typeface="Arial"/>
              </a:rPr>
              <a:t>-  The same proxy pattern drops into a real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C9CAA"/>
                </a:solidFill>
                <a:latin typeface="Arial"/>
              </a:rPr>
              <a:t>Vela OS  </a:t>
            </a:r>
            <a:r>
              <a:rPr sz="900" b="0">
                <a:solidFill>
                  <a:srgbClr val="6B6B77"/>
                </a:solidFill>
                <a:latin typeface="Arial"/>
              </a:rPr>
              <a:t>Emerge Digital x FPT CX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6B77"/>
                </a:solidFill>
                <a:latin typeface="Arial"/>
              </a:rPr>
              <a:t>vela-os-roai.emerge-digital.workers.dev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3F3F6"/>
                </a:solidFill>
                <a:latin typeface="Arial"/>
              </a:rPr>
              <a:t>Real FPT outcomes behind the demo.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212080" cy="13716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88366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A5B4FC"/>
                </a:solidFill>
                <a:latin typeface="Arial"/>
              </a:rPr>
              <a:t>ON.Optima - AEO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13969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3F3F6"/>
                </a:solidFill>
                <a:latin typeface="Arial"/>
              </a:rPr>
              <a:t>+200% click-through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48716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77"/>
                </a:solidFill>
                <a:latin typeface="Arial"/>
              </a:rPr>
              <a:t>Global technology leader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72491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9CAA"/>
                </a:solidFill>
                <a:latin typeface="Arial"/>
              </a:rPr>
              <a:t>Site ranking #6 (+18) - CTR 3.2% - featured snippets 30%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212080" cy="13716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188366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A5B4FC"/>
                </a:solidFill>
                <a:latin typeface="Arial"/>
              </a:rPr>
              <a:t>ON.Optima - AEO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213969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3F3F6"/>
                </a:solidFill>
                <a:latin typeface="Arial"/>
              </a:rPr>
              <a:t>Cited across 120+ markets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248716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77"/>
                </a:solidFill>
                <a:latin typeface="Arial"/>
              </a:rPr>
              <a:t>Global health F&amp;B leader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272491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9CAA"/>
                </a:solidFill>
                <a:latin typeface="Arial"/>
              </a:rPr>
              <a:t>120+ markets - consistent AI answer boxes - acquisition cost down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212080" cy="13716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52958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A5B4FC"/>
                </a:solidFill>
                <a:latin typeface="Arial"/>
              </a:rPr>
              <a:t>ON.E - Commerce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78561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3F3F6"/>
                </a:solidFill>
                <a:latin typeface="Arial"/>
              </a:rPr>
              <a:t>MVP in 2 months, not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13308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77"/>
                </a:solidFill>
                <a:latin typeface="Arial"/>
              </a:rPr>
              <a:t>KSA megaproject (PIF)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37083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9CAA"/>
                </a:solidFill>
                <a:latin typeface="Arial"/>
              </a:rPr>
              <a:t>Time to MVP 2 mo (vs 10) - build time -55% - requirements -40%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383280"/>
            <a:ext cx="5212080" cy="137160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352958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A5B4FC"/>
                </a:solidFill>
                <a:latin typeface="Arial"/>
              </a:rPr>
              <a:t>Data &amp; AI CoE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378561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3F3F6"/>
                </a:solidFill>
                <a:latin typeface="Arial"/>
              </a:rPr>
              <a:t>Campaign cycles: weeks to minutes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413308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77"/>
                </a:solidFill>
                <a:latin typeface="Arial"/>
              </a:rPr>
              <a:t>FPT x Salesforce ASEAN CoE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437083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9CAA"/>
                </a:solidFill>
                <a:latin typeface="Arial"/>
              </a:rPr>
              <a:t>First in ASEAN - weeks to minutes - ~100 Agentforce certs by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8348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5B4FC"/>
                </a:solidFill>
                <a:latin typeface="Arial"/>
              </a:rPr>
              <a:t>PARTNERS:  </a:t>
            </a:r>
            <a:r>
              <a:rPr sz="1100" b="0">
                <a:solidFill>
                  <a:srgbClr val="9C9CAA"/>
                </a:solidFill>
                <a:latin typeface="Arial"/>
              </a:rPr>
              <a:t>Adobe (Specialized)  Sitecore (Platinum APAC)  Salesforce (First ASEAN Data &amp; AI CoE)  Liferay (Global Platinum)  Shopify (Plus)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406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3F3F6"/>
                </a:solidFill>
                <a:latin typeface="Arial"/>
              </a:rPr>
              <a:t>1,000+ certified engineers      1,500+ platform certifications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C9CAA"/>
                </a:solidFill>
                <a:latin typeface="Arial"/>
              </a:rPr>
              <a:t>Vela OS  </a:t>
            </a:r>
            <a:r>
              <a:rPr sz="900" b="0">
                <a:solidFill>
                  <a:srgbClr val="6B6B77"/>
                </a:solidFill>
                <a:latin typeface="Arial"/>
              </a:rPr>
              <a:t>Emerge Digital x FPT CX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6B77"/>
                </a:solidFill>
                <a:latin typeface="Arial"/>
              </a:rPr>
              <a:t>vela-os-roai.emerge-digital.workers.dev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RUN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3F3F6"/>
                </a:solidFill>
                <a:latin typeface="Arial"/>
              </a:rPr>
              <a:t>A 7-step walkthrough (~6-8 min).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2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6479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3F3F6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Agency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9397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Blended ROAI, revenue and margin across all clients.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502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6479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3F3F6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76479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ROAI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09397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The formula, the trend, the per-pillar breakdown.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15768"/>
            <a:ext cx="502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9747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3F3F6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697479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Client deep dive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026663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Drill into one account + its real case result.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715768"/>
            <a:ext cx="502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9747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3F3F6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697479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Billing -&gt;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026663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Real Metronome invoices and commit drawdown.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648456"/>
            <a:ext cx="502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301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3F3F6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6301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Customer portal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95935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The same engagement, the client's own view.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648456"/>
            <a:ext cx="502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6301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3F3F6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6301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AI 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95935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Launch a new ON.Ecosystem agent in a click.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581144"/>
            <a:ext cx="502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56285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3F3F6"/>
                </a:solidFill>
                <a:latin typeface="Arial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56285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3F6"/>
                </a:solidFill>
                <a:latin typeface="Arial"/>
              </a:rPr>
              <a:t>Customer billing &amp; usage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8920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9CAA"/>
                </a:solidFill>
                <a:latin typeface="Arial"/>
              </a:rPr>
              <a:t>Credits, usage drawdown and top-up.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9436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9CAA"/>
                </a:solidFill>
                <a:latin typeface="Arial"/>
              </a:rPr>
              <a:t>Step-by-step with deep links + talk track:  </a:t>
            </a:r>
            <a:r>
              <a:rPr sz="1200" b="1">
                <a:solidFill>
                  <a:srgbClr val="A5B4FC"/>
                </a:solidFill>
                <a:latin typeface="Arial"/>
              </a:rPr>
              <a:t>https://vela-os-roai.emerge-digital.workers.dev/guide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C9CAA"/>
                </a:solidFill>
                <a:latin typeface="Arial"/>
              </a:rPr>
              <a:t>Vela OS  </a:t>
            </a:r>
            <a:r>
              <a:rPr sz="900" b="0">
                <a:solidFill>
                  <a:srgbClr val="6B6B77"/>
                </a:solidFill>
                <a:latin typeface="Arial"/>
              </a:rPr>
              <a:t>Emerge Digital x FPT CX Services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6B77"/>
                </a:solidFill>
                <a:latin typeface="Arial"/>
              </a:rPr>
              <a:t>vela-os-roai.emerge-digital.workers.dev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94560"/>
            <a:ext cx="640080" cy="6400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7627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3F3F6"/>
                </a:solidFill>
                <a:latin typeface="Arial"/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3F3F6"/>
                </a:solidFill>
                <a:latin typeface="Arial"/>
              </a:rPr>
              <a:t>See it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C9CAA"/>
                </a:solidFill>
                <a:latin typeface="Arial"/>
              </a:rPr>
              <a:t>Interactive demo + customer portal, with live billing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63440"/>
            <a:ext cx="5486400" cy="64008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81888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B77"/>
                </a:solidFill>
                <a:latin typeface="Arial"/>
              </a:rPr>
              <a:t>Demo:  </a:t>
            </a:r>
            <a:r>
              <a:rPr sz="1300" b="1">
                <a:solidFill>
                  <a:srgbClr val="A5B4FC"/>
                </a:solidFill>
                <a:latin typeface="Arial"/>
              </a:rPr>
              <a:t>vela-os-roai.emerge-digital.workers.dev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440680"/>
            <a:ext cx="5486400" cy="640080"/>
          </a:xfrm>
          <a:prstGeom prst="roundRect">
            <a:avLst/>
          </a:prstGeom>
          <a:solidFill>
            <a:srgbClr val="15151E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59612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B77"/>
                </a:solidFill>
                <a:latin typeface="Arial"/>
              </a:rPr>
              <a:t>Guide: </a:t>
            </a:r>
            <a:r>
              <a:rPr sz="1300" b="1">
                <a:solidFill>
                  <a:srgbClr val="A5B4FC"/>
                </a:solidFill>
                <a:latin typeface="Arial"/>
              </a:rPr>
              <a:t>vela-os-roai.emerge-digital.workers.dev/guide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B77"/>
                </a:solidFill>
                <a:latin typeface="Arial"/>
              </a:rPr>
              <a:t>Built by Emerge Digital for FPT CX 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