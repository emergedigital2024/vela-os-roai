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548640" cy="54864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5895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3F3F6"/>
                </a:solidFill>
                <a:latin typeface="Arial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786384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3F3F6"/>
                </a:solidFill>
                <a:latin typeface="Arial"/>
              </a:rPr>
              <a:t>Vela </a:t>
            </a:r>
            <a:r>
              <a:rPr sz="2200" b="1">
                <a:solidFill>
                  <a:srgbClr val="A5B4FC"/>
                </a:solidFill>
                <a:latin typeface="Arial"/>
              </a:rPr>
              <a:t>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20700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C9CAA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3F3F6"/>
                </a:solidFill>
                <a:latin typeface="Arial"/>
              </a:rPr>
              <a:t>The operating system for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3F3F6"/>
                </a:solidFill>
                <a:latin typeface="Arial"/>
              </a:rPr>
              <a:t>AI-first customer experience.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C9CAA"/>
                </a:solidFill>
                <a:latin typeface="Arial"/>
              </a:rPr>
              <a:t>Vela OS turns a full enterprise CX offering into one measurable surface - a dual-mode agency command center and customer portal, where every AI engagement is priced, delivered, and proven in ROAI.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15000"/>
            <a:ext cx="5852160" cy="566928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5815584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3F3F6"/>
                </a:solidFill>
                <a:latin typeface="Arial"/>
              </a:rPr>
              <a:t>ROAI = (Value delivered - AI cost) / AI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7607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Live, interactive demo</a:t>
            </a:r>
          </a:p>
          <a:p>
            <a:pPr algn="r">
              <a:lnSpc>
                <a:spcPct val="100000"/>
              </a:lnSpc>
            </a:pPr>
            <a:r>
              <a:rPr sz="1100" b="0">
                <a:solidFill>
                  <a:srgbClr val="9C9CAA"/>
                </a:solidFill>
                <a:latin typeface="Arial"/>
              </a:rPr>
              <a:t>agency + customer portal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CX leaders win on growth, not just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Buyers expect AI-grade, cross-channel experiences. The gap is proof - most AI spend can't show what it returned. Vela OS closes that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2-3x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higher revenue growth for CX leaders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~70%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rate experience as important as product or 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468880"/>
            <a:ext cx="3383280" cy="18288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43200"/>
            <a:ext cx="2834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A5B4FC"/>
                </a:solidFill>
                <a:latin typeface="Arial"/>
              </a:rPr>
              <a:t>~60%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61188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of interactions span multiple channels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One platform, two modes.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212080" cy="402336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AGENCY COMMAND CENTER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3F3F6"/>
                </a:solidFill>
                <a:latin typeface="Arial"/>
              </a:rPr>
              <a:t>Run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20040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Portfolio ROAI, revenue and margin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Client directory with health tiers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ROAI analytics per $ of AI invested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Billing + live Metronome usage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02336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Arial"/>
              </a:rPr>
              <a:t>CUSTOMER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3F3F6"/>
                </a:solidFill>
                <a:latin typeface="Arial"/>
              </a:rPr>
              <a:t>Show the customer their outcomes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20040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 personal ROAI Center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Active projects across six pillars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AI marketplace to launch agents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-  Self-serve billing, usage &amp; top-ups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OFFERING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Six CX pillars, powered by the Vela 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Maturity assessment, marketecture, journey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Research, adaptive UI, design systems, usability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8308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96596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3500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DXP build/re-platform, MarTech, DX engineering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Commerce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Composable commerce, B2B/B2C, accelerators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Experience Insights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CDP &amp; Customer 360, analytics portals, AI agents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200400"/>
            <a:ext cx="3383280" cy="11430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33832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Run &amp; Optimize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7673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L1-L3 maintenance, 24x7 monitoring, ops support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61772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AGENTIC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Vela AEO - Answer Engine Optimization        </a:t>
            </a:r>
            <a:r>
              <a:rPr sz="1300" b="0">
                <a:solidFill>
                  <a:srgbClr val="9C9CAA"/>
                </a:solidFill>
                <a:latin typeface="Arial"/>
              </a:rPr>
              <a:t>Vela Assist - Governed Assistant
</a:t>
            </a:r>
            <a:r>
              <a:rPr sz="1300" b="0">
                <a:solidFill>
                  <a:srgbClr val="9C9CAA"/>
                </a:solidFill>
                <a:latin typeface="Arial"/>
              </a:rPr>
              <a:t>Vela Commerce - Feed Validation        </a:t>
            </a:r>
            <a:r>
              <a:rPr sz="1300" b="0">
                <a:solidFill>
                  <a:srgbClr val="9C9CAA"/>
                </a:solidFill>
                <a:latin typeface="Arial"/>
              </a:rPr>
              <a:t>Vela Recs - Recommendation Ranking
</a:t>
            </a:r>
            <a:r>
              <a:rPr sz="1300" b="0">
                <a:solidFill>
                  <a:srgbClr val="9C9CAA"/>
                </a:solidFill>
                <a:latin typeface="Arial"/>
              </a:rPr>
              <a:t>Vela Scan - Agent-Readiness Crawl      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BUY IT BY THE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Every product, callable per request.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566928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3F6"/>
                </a:solidFill>
                <a:latin typeface="Arial"/>
              </a:rPr>
              <a:t>Vela AEO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192024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C9CAA"/>
                </a:solidFill>
                <a:latin typeface="Arial"/>
              </a:rPr>
              <a:t>GenAI-visibility rewrite + llms.txt block + Article/FAQ JSON-LD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01952"/>
            <a:ext cx="2560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$0.02 / request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59736"/>
            <a:ext cx="10515600" cy="566928"/>
          </a:xfrm>
          <a:prstGeom prst="roundRect">
            <a:avLst/>
          </a:prstGeom>
          <a:solidFill>
            <a:srgbClr val="1B1B26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78608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3F6"/>
                </a:solidFill>
                <a:latin typeface="Arial"/>
              </a:rPr>
              <a:t>Vela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596896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C9CAA"/>
                </a:solidFill>
                <a:latin typeface="Arial"/>
              </a:rPr>
              <a:t>Governed CX answer with a claims-to-verify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578608"/>
            <a:ext cx="2560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$0.25 / session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136391"/>
            <a:ext cx="10515600" cy="566928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255263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3F6"/>
                </a:solidFill>
                <a:latin typeface="Arial"/>
              </a:rPr>
              <a:t>Vela Recs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273551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C9CAA"/>
                </a:solidFill>
                <a:latin typeface="Arial"/>
              </a:rPr>
              <a:t>Top-N by real cosine similarity, model id and scores shown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255263"/>
            <a:ext cx="2560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$0.10 / recommendation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813048"/>
            <a:ext cx="10515600" cy="566928"/>
          </a:xfrm>
          <a:prstGeom prst="roundRect">
            <a:avLst/>
          </a:prstGeom>
          <a:solidFill>
            <a:srgbClr val="1B1B26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931920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3F6"/>
                </a:solidFill>
                <a:latin typeface="Arial"/>
              </a:rPr>
              <a:t>Vela Commerce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395020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C9CAA"/>
                </a:solidFill>
                <a:latin typeface="Arial"/>
              </a:rPr>
              <a:t>Feed item validated to the GTIN check digit, then JSON-LD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931920"/>
            <a:ext cx="2560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$0.03 / API call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489704"/>
            <a:ext cx="10515600" cy="566928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08576"/>
            <a:ext cx="2377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3F3F6"/>
                </a:solidFill>
                <a:latin typeface="Arial"/>
              </a:rPr>
              <a:t>Vela 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626864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C9CAA"/>
                </a:solidFill>
                <a:latin typeface="Arial"/>
              </a:rPr>
              <a:t>Agent-readiness crawl: crawler rules, llms.txt, x402, MCP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608576"/>
            <a:ext cx="25603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34D399"/>
                </a:solidFill>
                <a:latin typeface="Arial"/>
              </a:rPr>
              <a:t>$0.05 / 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852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Settles in XRP or RLUSD over the x402 protocol on the XRP Ledger - usage metered in Metronome - no account, no contract, no sales call. Catalogue at agent-commerce.emergedigital.com/.well-known/x402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Every engagement, measured in ROAI.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4937760" cy="347472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6B77"/>
                </a:solidFill>
                <a:latin typeface="Arial"/>
              </a:rPr>
              <a:t>EXAMPLE CLIENT - BLENDED ROAI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4297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>
                <a:solidFill>
                  <a:srgbClr val="34D399"/>
                </a:solidFill>
                <a:latin typeface="Arial"/>
              </a:rPr>
              <a:t>5.4x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8404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$1 invested  -&gt;  $5.40 of measured value returned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212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3F3F6"/>
                </a:solidFill>
                <a:latin typeface="Arial"/>
              </a:rPr>
              <a:t>ROAI = (Value delivered - AI cost) / AI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743200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Value = hours saved + revenue uplift, measured per engagement.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566160"/>
            <a:ext cx="5212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The practice and the client always see the same source of truth - so renewals and expansion become a data conversation, not a debate.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 A MOCKUP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Live usage-based billing, wired to Metronome.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C9CAA"/>
                </a:solidFill>
                <a:latin typeface="Arial"/>
              </a:rPr>
              <a:t>The Billing -&gt; Live panel reads a real Metronome account through a secure, read-only proxy - the API key never reaches the browser.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5212080" cy="32004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WHAT'S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5468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7 customers: prepaid-commit + hybrid models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Finalized + draft invoices, 6 months history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Commit/credit balances drawing down on usage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Full catalog: metrics, products, rate cards, packages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468880"/>
            <a:ext cx="5212080" cy="32004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Arial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5468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Usage-based pricing + committed-spend drawdown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Government Net-60 / PO and self-serve top-ups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Runs on production billing infrastructure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9C9CAA"/>
                </a:solidFill>
                <a:latin typeface="Arial"/>
              </a:rPr>
              <a:t>-  The same proxy pattern drops into a real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Real FPT outcomes behind the demo.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88366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Answer Engine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1396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+200% click-through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8716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Global technology leader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Site ranking #6 (+18) - CTR 3.2% - featured snippets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3408" y="188366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Answer Engine Optimization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8" y="213969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Cited across 120+ markets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248716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Global health F&amp;B leader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72491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120+ markets - consistent AI answer boxes - acquisition cost down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38328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3529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Commerce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7856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MVP in 2 months, not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13308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KSA megaproject (PIF)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37083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Time to MVP 2 mo (vs 10) - build time -55% - requirements -40%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383280"/>
            <a:ext cx="5212080" cy="137160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2A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529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5B4FC"/>
                </a:solidFill>
                <a:latin typeface="Arial"/>
              </a:rPr>
              <a:t>Data &amp; AI CoE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78561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3F3F6"/>
                </a:solidFill>
                <a:latin typeface="Arial"/>
              </a:rPr>
              <a:t>Campaign cycles: weeks to minutes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413308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FPT x Salesforce ASEAN CoE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437083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C9CAA"/>
                </a:solidFill>
                <a:latin typeface="Arial"/>
              </a:rPr>
              <a:t>First in ASEAN - weeks to minutes - ~100 Agentforce certs by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983480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FPT PARTNERS:  </a:t>
            </a:r>
            <a:r>
              <a:rPr sz="1100" b="0">
                <a:solidFill>
                  <a:srgbClr val="9C9CAA"/>
                </a:solidFill>
                <a:latin typeface="Arial"/>
              </a:rPr>
              <a:t>Adobe (Specialized)  Sitecore (Platinum APAC)  Salesforce (First ASEAN Data &amp; AI CoE)  Liferay (Global Platinum)  Shopify (Plus)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406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3F3F6"/>
                </a:solidFill>
                <a:latin typeface="Arial"/>
              </a:rPr>
              <a:t>1,000+ certified engineers      1,500+ platform certifications</a:t>
            </a:r>
            <a:r>
              <a:rPr sz="1000" b="0">
                <a:solidFill>
                  <a:srgbClr val="6B6B77"/>
                </a:solidFill>
                <a:latin typeface="Arial"/>
              </a:rPr>
              <a:t>      FPT Corporation's public figures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RUN 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3F3F6"/>
                </a:solidFill>
                <a:latin typeface="Arial"/>
              </a:rPr>
              <a:t>A 7-step walkthrough (~6-8 min).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B6B77"/>
                </a:solidFill>
                <a:latin typeface="Arial"/>
              </a:rPr>
              <a:t>Six films on the guide: a 53-second tour of the whole line, plus one short per product (0:40-0:53). Every figure on screen is read from a live API response - nothing is illustrative.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647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7647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Agency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9397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Blended ROAI, revenue and margin across all clients.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647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76479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ROAI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9397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The formula, the trend, the per-pillar breakdown.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715768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974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9747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Client deep dive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02666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Drill into one account + its real case result.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715768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79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69747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Billing -&gt;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02666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Real Metronome invoices and commit drawdown.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30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6301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Customer portal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9593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The same engagement, the client's own 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648456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630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630168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AI marketplace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95935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Launch a new Vela agent in a click.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581144"/>
            <a:ext cx="502920" cy="50292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56285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3F3F6"/>
                </a:solidFill>
                <a:latin typeface="Arial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56285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3F3F6"/>
                </a:solidFill>
                <a:latin typeface="Arial"/>
              </a:rPr>
              <a:t>Customer billing &amp; usage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48920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C9CAA"/>
                </a:solidFill>
                <a:latin typeface="Arial"/>
              </a:rPr>
              <a:t>Credits, usage drawdown and top-up.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9436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C9CAA"/>
                </a:solidFill>
                <a:latin typeface="Arial"/>
              </a:rPr>
              <a:t>Step-by-step with deep links + talk track:  </a:t>
            </a:r>
            <a:r>
              <a:rPr sz="1200" b="1">
                <a:solidFill>
                  <a:srgbClr val="A5B4FC"/>
                </a:solidFill>
                <a:latin typeface="Arial"/>
              </a:rPr>
              <a:t>https://roai.emergedigital.ae/guide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C9CAA"/>
                </a:solidFill>
                <a:latin typeface="Arial"/>
              </a:rPr>
              <a:t>Vela OS  </a:t>
            </a:r>
            <a:r>
              <a:rPr sz="900" b="0">
                <a:solidFill>
                  <a:srgbClr val="6B6B77"/>
                </a:solidFill>
                <a:latin typeface="Arial"/>
              </a:rPr>
              <a:t>ROAI Analytics  -  Emerge Digital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419088"/>
            <a:ext cx="2679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6B77"/>
                </a:solidFill>
                <a:latin typeface="Arial"/>
              </a:rPr>
              <a:t>roai.emergedigital.ae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194560"/>
            <a:ext cx="6400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7627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3F3F6"/>
                </a:solidFill>
                <a:latin typeface="Arial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3F3F6"/>
                </a:solidFill>
                <a:latin typeface="Arial"/>
              </a:rPr>
              <a:t>See it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C9CAA"/>
                </a:solidFill>
                <a:latin typeface="Arial"/>
              </a:rPr>
              <a:t>Interactive demo + customer portal, with live billing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663440"/>
            <a:ext cx="5486400" cy="64008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81888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77"/>
                </a:solidFill>
                <a:latin typeface="Arial"/>
              </a:rPr>
              <a:t>Demo:  </a:t>
            </a:r>
            <a:r>
              <a:rPr sz="1300" b="1">
                <a:solidFill>
                  <a:srgbClr val="A5B4FC"/>
                </a:solidFill>
                <a:latin typeface="Arial"/>
              </a:rPr>
              <a:t>roai.emergedigital.ae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440680"/>
            <a:ext cx="5486400" cy="640080"/>
          </a:xfrm>
          <a:prstGeom prst="roundRect">
            <a:avLst/>
          </a:prstGeom>
          <a:solidFill>
            <a:srgbClr val="15151E"/>
          </a:solidFill>
          <a:ln w="12700">
            <a:solidFill>
              <a:srgbClr val="33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5961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B77"/>
                </a:solidFill>
                <a:latin typeface="Arial"/>
              </a:rPr>
              <a:t>Guide: </a:t>
            </a:r>
            <a:r>
              <a:rPr sz="1300" b="1">
                <a:solidFill>
                  <a:srgbClr val="A5B4FC"/>
                </a:solidFill>
                <a:latin typeface="Arial"/>
              </a:rPr>
              <a:t>roai.emergedigital.ae/guide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7"/>
                </a:solidFill>
                <a:latin typeface="Arial"/>
              </a:rPr>
              <a:t>Built by Emerge Digital for an AI-native enterprise CX 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